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C4A3-F699-94ED-C04C-4AE6C148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31C19-8C31-A432-FB04-38BDE6730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3DF81-855D-F63A-4851-FECE1C74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C047B-6CA6-3931-6397-6D1A38C5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6DAE8-A49D-1641-A8C4-C360B024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82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F3A5-7A86-06C4-71C7-D4EB29EA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E4985-D04A-1A85-D1E8-CA15228F3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7E437-3140-E27F-4D4D-CA5779FC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99D2-03CB-B11F-EF98-126A831B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9971D-C150-EEDE-CBB6-983A4749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5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151C-6C0B-73A4-E9E9-5C123746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DB767-B071-CF9A-722C-8DA2648A3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3411-4FBC-342D-CD2A-5E6720DC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8131-3C34-5969-3D45-D4E3D209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AA99-DBA7-2E30-EE10-564DAD04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15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C937-026A-FE2A-8C1C-A9293E99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14E43-AA46-FD5C-C547-1DCD605C6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09274-21F5-D3A5-F869-9469C4976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9CABE-2FA2-11BF-2F5F-83CC2464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9A689-ED8A-8488-EA50-791F23BE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B2ED8-320F-394E-1432-8D67017E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80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64F7-205A-0DFF-6C5E-0A311911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DDF99-A695-F30A-4512-AF153EF92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CA960-F143-79D4-59C8-E07425662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69096-F8A9-B8A4-5401-A2FEDAF4D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BF8F9-0CCE-222E-6E6C-219A5BE99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37F0D-D123-2183-D5B4-3D23B6CD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644DF-4243-EC7B-EE5A-B618DF2F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9ADDD-8E27-8665-87C4-F380EC7B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54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69C9-D4D5-91D6-6AEE-4D939943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B0C22-22B7-9832-C341-335C9074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754B4-8176-8AC6-D590-0599FA86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C614F-20D3-8F98-C8DE-674F3DF7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95FDB-6484-E9FE-6DB9-40B8F4FD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60C8F-B48B-98B6-E446-3B69C428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02093-0625-27C6-B4AE-270F34E8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90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4857-AE07-6299-6E1F-7DA04837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49027-89E2-0FB5-D577-216BC8E6D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B4659-B5B1-D5BF-0EEA-AD1EE8285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4F6FA-2771-4B47-9806-C3F943CF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13541-3316-7B4C-554C-8FF6A0AF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6CDE5-0A55-CB0E-6110-A9A10C7C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8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9EE1-17BB-9ED8-DD69-F1AD0AF4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0DA9A-CA15-E20C-A172-E32FD062E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52949-F7B8-92B2-15F8-8C5FE809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D4B76-8A53-FBA9-409D-ACD63F16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31C90-E2A2-AC4A-E3CA-C6C0E298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77F6F-AC2A-FEE4-8211-4AE4A1B4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43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70F0-FCAB-B4B4-4D27-60FBAD30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27157-2F06-4DC4-8D99-4C662E1A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AB40-4466-C5C2-AB78-4A7786EB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A10A-487E-CEFB-AD95-8F15AFA3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B2C02-C270-D087-FD48-2D691786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02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74605-0FC1-1959-3AC2-58A2CDD1B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DDFD6-E8E7-A006-6C80-968A7980A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D2E9-9DA1-8E9E-BBBC-7EC11E3A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E9275-976E-D2AC-9540-C296A367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39F7E-0B2E-FECA-702B-A86ABB76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2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B59B0-10E1-D18F-3B07-56407496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EEE7D-B3FE-3295-D245-29B7C680B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D9B4C-5D7E-90F4-4C38-481D28595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76828-74E6-45F0-8058-8E497B4CAB76}" type="datetimeFigureOut">
              <a:rPr lang="en-IN" smtClean="0"/>
              <a:t>20/11/25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660B-B89F-9AC6-431A-2C55AE973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A4D4-5A64-7FC4-4D00-2BB745D41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E7013-0B26-4DDB-A909-06CBF929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35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E7A257-FAE4-C8E4-004F-3EC97C7FB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147014"/>
              </p:ext>
            </p:extLst>
          </p:nvPr>
        </p:nvGraphicFramePr>
        <p:xfrm>
          <a:off x="838200" y="1097280"/>
          <a:ext cx="10515600" cy="4663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934650394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966917980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lang="en-IN" sz="1600" b="1" dirty="0"/>
                        <a:t>Problem Statement</a:t>
                      </a:r>
                    </a:p>
                    <a:p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The rapid expansion of AI-powered capabilities—LLM chat, speech-to-text, text-to-speech, and Retrieval-Augmented Generation (RAG)—created the need for a </a:t>
                      </a:r>
                      <a:r>
                        <a:rPr lang="en-IN" sz="1600" b="1" dirty="0"/>
                        <a:t>single, secure, enterprise-grade AI platform</a:t>
                      </a:r>
                      <a:r>
                        <a:rPr lang="en-IN" sz="1600" dirty="0"/>
                        <a:t>.</a:t>
                      </a:r>
                      <a:br>
                        <a:rPr lang="en-IN" sz="1600" dirty="0"/>
                      </a:br>
                      <a:r>
                        <a:rPr lang="en-IN" sz="1600" dirty="0"/>
                        <a:t>This platform must expose reusable services to a growing number of internal products.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091973"/>
                  </a:ext>
                </a:extLst>
              </a:tr>
              <a:tr h="2306320">
                <a:tc>
                  <a:txBody>
                    <a:bodyPr/>
                    <a:lstStyle/>
                    <a:p>
                      <a:r>
                        <a:rPr lang="en-IN" sz="1600" b="1" dirty="0"/>
                        <a:t>Key Pain‑Points</a:t>
                      </a:r>
                    </a:p>
                    <a:p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Security &amp; Compliance</a:t>
                      </a:r>
                      <a:endParaRPr lang="en-IN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Data privacy &amp; regulatory constraints — all models/data must remain within bank network.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Guard-rails + consistent authentication.</a:t>
                      </a:r>
                    </a:p>
                    <a:p>
                      <a:r>
                        <a:rPr lang="en-IN" sz="1600" b="1" dirty="0"/>
                        <a:t>Scalability</a:t>
                      </a:r>
                      <a:endParaRPr lang="en-IN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Thousands of concurrent requests.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Async ingestion for large files.</a:t>
                      </a:r>
                    </a:p>
                    <a:p>
                      <a:r>
                        <a:rPr lang="en-IN" sz="1600" b="1" dirty="0"/>
                        <a:t>Vendor Fragmentation</a:t>
                      </a:r>
                      <a:endParaRPr lang="en-IN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Multiple LLM/STT/embedding vendors each with separate APIs/quota.</a:t>
                      </a:r>
                    </a:p>
                    <a:p>
                      <a:r>
                        <a:rPr lang="en-IN" sz="1600" b="1" dirty="0"/>
                        <a:t>RAG-specific Pain Points</a:t>
                      </a:r>
                      <a:endParaRPr lang="en-IN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Need to embed, store, search large document corpus.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Versioning &amp; rollback of vector-store schemas.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24777"/>
                  </a:ext>
                </a:extLst>
              </a:tr>
              <a:tr h="409108">
                <a:tc>
                  <a:txBody>
                    <a:bodyPr/>
                    <a:lstStyle/>
                    <a:p>
                      <a:r>
                        <a:rPr lang="en-US" sz="1600" b="1" dirty="0"/>
                        <a:t>Tools &amp; Tech Stack Available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Python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 err="1"/>
                        <a:t>FastAPI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 err="1"/>
                        <a:t>LiteLLM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GCS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Redis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PostgreSQL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Elasticsearch</a:t>
                      </a:r>
                      <a:r>
                        <a:rPr lang="en-IN" sz="1600" dirty="0"/>
                        <a:t>,</a:t>
                      </a:r>
                      <a:br>
                        <a:rPr lang="en-IN" sz="1600" dirty="0"/>
                      </a:br>
                      <a:r>
                        <a:rPr lang="en-IN" sz="1600" b="1" dirty="0"/>
                        <a:t>Kubernetes/GKE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Comet Opik</a:t>
                      </a:r>
                      <a:r>
                        <a:rPr lang="en-IN" sz="1600" dirty="0"/>
                        <a:t>, </a:t>
                      </a:r>
                      <a:r>
                        <a:rPr lang="en-IN" sz="1600" b="1" dirty="0"/>
                        <a:t>Celery</a:t>
                      </a:r>
                      <a:r>
                        <a:rPr lang="en-IN" sz="1600" dirty="0"/>
                        <a:t>, and DevOps toolchain.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91866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82CCD263-56A5-AFD2-79C7-EEDBADC06BE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83121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>
                <a:latin typeface="Cambria" panose="02040503050406030204" pitchFamily="18" charset="0"/>
                <a:ea typeface="Cambria" panose="02040503050406030204" pitchFamily="18" charset="0"/>
              </a:rPr>
              <a:t>Business Problem &amp; Why It Matters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B2D439-2BD1-B258-E9BA-F684D0EFFF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731881"/>
              </p:ext>
            </p:extLst>
          </p:nvPr>
        </p:nvGraphicFramePr>
        <p:xfrm>
          <a:off x="838200" y="975361"/>
          <a:ext cx="6517640" cy="5760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90051">
                  <a:extLst>
                    <a:ext uri="{9D8B030D-6E8A-4147-A177-3AD203B41FA5}">
                      <a16:colId xmlns:a16="http://schemas.microsoft.com/office/drawing/2014/main" val="666649401"/>
                    </a:ext>
                  </a:extLst>
                </a:gridCol>
                <a:gridCol w="4927589">
                  <a:extLst>
                    <a:ext uri="{9D8B030D-6E8A-4147-A177-3AD203B41FA5}">
                      <a16:colId xmlns:a16="http://schemas.microsoft.com/office/drawing/2014/main" val="2018238030"/>
                    </a:ext>
                  </a:extLst>
                </a:gridCol>
              </a:tblGrid>
              <a:tr h="76199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Platform-as-a-Service (Neev)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What It Does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497377"/>
                  </a:ext>
                </a:extLst>
              </a:tr>
              <a:tr h="992726">
                <a:tc>
                  <a:txBody>
                    <a:bodyPr/>
                    <a:lstStyle/>
                    <a:p>
                      <a:r>
                        <a:rPr lang="en-US" sz="1500" b="1" dirty="0"/>
                        <a:t>Modular Unified Micro‑Service Ecosystem</a:t>
                      </a:r>
                      <a:endParaRPr lang="en-IN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Chat‑completion, image‑generation, speech‑to‑text, text‑to‑speech, RAG, embeddings, vector‑store CRUD.</a:t>
                      </a:r>
                    </a:p>
                    <a:p>
                      <a:r>
                        <a:rPr lang="en-US" sz="1500" dirty="0"/>
                        <a:t>Guard‑rail integration (Prompt‑Hub &amp; internal policy checks).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4572"/>
                  </a:ext>
                </a:extLst>
              </a:tr>
              <a:tr h="767106">
                <a:tc>
                  <a:txBody>
                    <a:bodyPr/>
                    <a:lstStyle/>
                    <a:p>
                      <a:r>
                        <a:rPr lang="en-IN" sz="1500" b="1" dirty="0"/>
                        <a:t>Secured On-Prem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All vendor code runs inside HDFC’s network, data never leaves the boundary.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94724"/>
                  </a:ext>
                </a:extLst>
              </a:tr>
              <a:tr h="992726">
                <a:tc>
                  <a:txBody>
                    <a:bodyPr/>
                    <a:lstStyle/>
                    <a:p>
                      <a:r>
                        <a:rPr lang="en-IN" sz="1500" b="1" dirty="0"/>
                        <a:t>Vector‑Store 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Supports both </a:t>
                      </a:r>
                      <a:r>
                        <a:rPr lang="en-US" sz="1500" dirty="0" err="1"/>
                        <a:t>PGVector</a:t>
                      </a:r>
                      <a:r>
                        <a:rPr lang="en-US" sz="1500" dirty="0"/>
                        <a:t> (PostgreSQL) and Elasticsearch back‑ends simultaneously.</a:t>
                      </a:r>
                    </a:p>
                    <a:p>
                      <a:r>
                        <a:rPr lang="en-US" sz="1500" dirty="0"/>
                        <a:t>Seamless onboarding path – new vector </a:t>
                      </a:r>
                      <a:r>
                        <a:rPr lang="en-US" sz="1500" dirty="0" err="1"/>
                        <a:t>dbs</a:t>
                      </a:r>
                      <a:r>
                        <a:rPr lang="en-US" sz="1500" dirty="0"/>
                        <a:t> can be added with minimal efforts.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064688"/>
                  </a:ext>
                </a:extLst>
              </a:tr>
              <a:tr h="992726">
                <a:tc>
                  <a:txBody>
                    <a:bodyPr/>
                    <a:lstStyle/>
                    <a:p>
                      <a:r>
                        <a:rPr lang="en-US" sz="1500" b="1" dirty="0"/>
                        <a:t>Async File Processing (Celery + Redis)</a:t>
                      </a:r>
                      <a:endParaRPr lang="en-IN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Upload → GCS → background pipeline (extract → chunk → embed → index).</a:t>
                      </a:r>
                    </a:p>
                    <a:p>
                      <a:r>
                        <a:rPr lang="en-IN" sz="1500" dirty="0"/>
                        <a:t>Job‑level tracking, retry, and rollback (metadata &amp; chunk removal on failure).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11505"/>
                  </a:ext>
                </a:extLst>
              </a:tr>
              <a:tr h="541487">
                <a:tc>
                  <a:txBody>
                    <a:bodyPr/>
                    <a:lstStyle/>
                    <a:p>
                      <a:r>
                        <a:rPr lang="en-IN" sz="1500" b="1" dirty="0"/>
                        <a:t>Observability &amp; Tracing (Opik)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End‑to‑end request tracing, usage metrics, error‑rate dashboards.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042723"/>
                  </a:ext>
                </a:extLst>
              </a:tr>
              <a:tr h="541487">
                <a:tc>
                  <a:txBody>
                    <a:bodyPr/>
                    <a:lstStyle/>
                    <a:p>
                      <a:r>
                        <a:rPr lang="en-IN" sz="1500" b="1" dirty="0"/>
                        <a:t>Security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Calls wrapped with API‑key &amp; session‑ID validation</a:t>
                      </a:r>
                    </a:p>
                    <a:p>
                      <a:r>
                        <a:rPr lang="en-US" sz="1500" dirty="0"/>
                        <a:t>Data within bank‑controlled network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815135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D3B6CD4-98CD-EE07-4176-F5904F57191C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6517640" cy="83121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Solution - What We Delivered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3B8F2C-1426-07C1-0728-588BC9059067}"/>
              </a:ext>
            </a:extLst>
          </p:cNvPr>
          <p:cNvSpPr txBox="1">
            <a:spLocks/>
          </p:cNvSpPr>
          <p:nvPr/>
        </p:nvSpPr>
        <p:spPr>
          <a:xfrm>
            <a:off x="7467600" y="0"/>
            <a:ext cx="3886200" cy="833120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Tangible Business Benefits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C8A556-31FE-D1B8-BB3D-00B405E061F1}"/>
              </a:ext>
            </a:extLst>
          </p:cNvPr>
          <p:cNvSpPr txBox="1"/>
          <p:nvPr/>
        </p:nvSpPr>
        <p:spPr>
          <a:xfrm>
            <a:off x="7467600" y="1073785"/>
            <a:ext cx="3886200" cy="563231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Accelerated AI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~70 % reduction vs. ad‑hoc scripts (single API, reusable components).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Cross-Team Adoption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5+ internal products already consuming the platform (chat assistants, compliance search, call‑center transcription	</a:t>
            </a: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High Scalability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/>
              <a:t>Celery workers + Redis queue allow thousands of concurrent file‑ingestion jobs without blocking the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Vector DBs‑agnostic flexibility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/>
              <a:t>Parallel </a:t>
            </a:r>
            <a:r>
              <a:rPr lang="en-IN" sz="1500" dirty="0" err="1"/>
              <a:t>PGVector</a:t>
            </a:r>
            <a:r>
              <a:rPr lang="en-IN" sz="1500" dirty="0"/>
              <a:t> and Elasticsearch enable strategic migration; no code changes needed for future vector‑store upgrades.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Compliance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All data processing performed in‑house; Guard‑rails enforce policy before LLM output is returned;</a:t>
            </a:r>
            <a:r>
              <a:rPr lang="en-IN" sz="1500" dirty="0"/>
              <a:t> HDFC’s VPC; audit logs captured via Opik &amp; DB metadata.</a:t>
            </a:r>
          </a:p>
        </p:txBody>
      </p:sp>
    </p:spTree>
    <p:extLst>
      <p:ext uri="{BB962C8B-B14F-4D97-AF65-F5344CB8AC3E}">
        <p14:creationId xmlns:p14="http://schemas.microsoft.com/office/powerpoint/2010/main" val="2299586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477</Words>
  <Application>Microsoft Macintosh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Jalota, Sachin</dc:creator>
  <cp:lastModifiedBy>Jalota, Sachin</cp:lastModifiedBy>
  <cp:revision>2</cp:revision>
  <dcterms:created xsi:type="dcterms:W3CDTF">2025-11-20T15:51:17Z</dcterms:created>
  <dcterms:modified xsi:type="dcterms:W3CDTF">2025-11-20T17:23:12Z</dcterms:modified>
</cp:coreProperties>
</file>