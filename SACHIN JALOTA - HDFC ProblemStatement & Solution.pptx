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FC4A3-F699-94ED-C04C-4AE6C148D1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31C19-8C31-A432-FB04-38BDE6730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73DF81-855D-F63A-4851-FECE1C749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C047B-6CA6-3931-6397-6D1A38C58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16DAE8-A49D-1641-A8C4-C360B024D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3827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F3A5-7A86-06C4-71C7-D4EB29EA9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E4985-D04A-1A85-D1E8-CA15228F3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7E437-3140-E27F-4D4D-CA5779FCA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A99D2-03CB-B11F-EF98-126A831B2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9971D-C150-EEDE-CBB6-983A4749C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357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4151C-6C0B-73A4-E9E9-5C1237460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8DB767-B071-CF9A-722C-8DA2648A30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723411-4FBC-342D-CD2A-5E6720DCB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3E8131-3C34-5969-3D45-D4E3D2099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DAA99-DBA7-2E30-EE10-564DAD04C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9158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4C937-026A-FE2A-8C1C-A9293E99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14E43-AA46-FD5C-C547-1DCD605C64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F09274-21F5-D3A5-F869-9469C4976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19CABE-2FA2-11BF-2F5F-83CC2464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49A689-ED8A-8488-EA50-791F23BE4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B2ED8-320F-394E-1432-8D67017EB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880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664F7-205A-0DFF-6C5E-0A3119118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6DDF99-A695-F30A-4512-AF153EF924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3CA960-F143-79D4-59C8-E074256627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C69096-F8A9-B8A4-5401-A2FEDAF4D9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5BF8F9-0CCE-222E-6E6C-219A5BE99B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137F0D-D123-2183-D5B4-3D23B6CDF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D644DF-4243-EC7B-EE5A-B618DF2F7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F9ADDD-8E27-8665-87C4-F380EC7B4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4549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B69C9-D4D5-91D6-6AEE-4D9399436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9B0C22-22B7-9832-C341-335C90748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F754B4-8176-8AC6-D590-0599FA869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C614F-20D3-8F98-C8DE-674F3DF72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727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E95FDB-6484-E9FE-6DB9-40B8F4FDD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260C8F-B48B-98B6-E446-3B69C428C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02093-0625-27C6-B4AE-270F34E8C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8907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A4857-AE07-6299-6E1F-7DA048379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49027-89E2-0FB5-D577-216BC8E6D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3B4659-B5B1-D5BF-0EEA-AD1EE82855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4F6FA-2771-4B47-9806-C3F943CF7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E13541-3316-7B4C-554C-8FF6A0AF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6CDE5-0A55-CB0E-6110-A9A10C7C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758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9EE1-17BB-9ED8-DD69-F1AD0AF4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F0DA9A-CA15-E20C-A172-E32FD062E8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52949-F7B8-92B2-15F8-8C5FE809C9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D4B76-8A53-FBA9-409D-ACD63F169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131C90-E2A2-AC4A-E3CA-C6C0E2984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77F6F-AC2A-FEE4-8211-4AE4A1B42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2432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070F0-FCAB-B4B4-4D27-60FBAD302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827157-2F06-4DC4-8D99-4C662E1A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46AB40-4466-C5C2-AB78-4A7786E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D0A10A-487E-CEFB-AD95-8F15AFA3F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B2C02-C270-D087-FD48-2D6917867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3021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174605-0FC1-1959-3AC2-58A2CDD1B4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0DDFD6-E8E7-A006-6C80-968A7980A2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6D2E9-9DA1-8E9E-BBBC-7EC11E3A7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BE9275-976E-D2AC-9540-C296A3678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39F7E-0B2E-FECA-702B-A86ABB767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5222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FB59B0-10E1-D18F-3B07-564074966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EEE7D-B3FE-3295-D245-29B7C680B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2D9B4C-5D7E-90F4-4C38-481D28595E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476828-74E6-45F0-8058-8E497B4CAB76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94660B-B89F-9AC6-431A-2C55AE9735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1A4D4-5A64-7FC4-4D00-2BB745D41A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4E7013-0B26-4DDB-A909-06CBF929EC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4355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2E7A257-FAE4-C8E4-004F-3EC97C7FBB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6243454"/>
              </p:ext>
            </p:extLst>
          </p:nvPr>
        </p:nvGraphicFramePr>
        <p:xfrm>
          <a:off x="838200" y="1559560"/>
          <a:ext cx="10515600" cy="3738880"/>
        </p:xfrm>
        <a:graphic>
          <a:graphicData uri="http://schemas.openxmlformats.org/drawingml/2006/table">
            <a:tbl>
              <a:tblPr bandRow="1">
                <a:tableStyleId>{9D7B26C5-4107-4FEC-AEDC-1716B250A1EF}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934650394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966917980"/>
                    </a:ext>
                  </a:extLst>
                </a:gridCol>
              </a:tblGrid>
              <a:tr h="853440">
                <a:tc>
                  <a:txBody>
                    <a:bodyPr/>
                    <a:lstStyle/>
                    <a:p>
                      <a:r>
                        <a:rPr lang="en-IN" sz="1600" b="1" dirty="0"/>
                        <a:t>Problem Statement</a:t>
                      </a:r>
                    </a:p>
                    <a:p>
                      <a:endParaRPr lang="en-IN" sz="1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Rapid growth of AI‑enabled services (LLM chat, LLM image processing, speech‑to‑text, Retrieval‑Augmented Generation) requires a single, secure, enterprise‑grade platform that can expose these capabilities to many downstream applications.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0091973"/>
                  </a:ext>
                </a:extLst>
              </a:tr>
              <a:tr h="2306320">
                <a:tc>
                  <a:txBody>
                    <a:bodyPr/>
                    <a:lstStyle/>
                    <a:p>
                      <a:r>
                        <a:rPr lang="en-IN" sz="1600" b="1" dirty="0"/>
                        <a:t>Key Pain‑Points</a:t>
                      </a:r>
                    </a:p>
                    <a:p>
                      <a:endParaRPr lang="en-IN" sz="1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dirty="0"/>
                        <a:t>Data‑privacy &amp; regulatory constraints – all models and data must run inside HDFC’s network.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Maintain consistent authentication &amp; guard‑rail checks.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Scale to thousands of concurrent requests.</a:t>
                      </a:r>
                      <a:endParaRPr lang="en-IN" sz="16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dirty="0"/>
                        <a:t>Multiple 3rd‑party AI vendors (Voicing AI, GCP, Vertex AI, </a:t>
                      </a:r>
                      <a:r>
                        <a:rPr lang="en-IN" sz="1600" dirty="0" err="1"/>
                        <a:t>ElasticSearch</a:t>
                      </a:r>
                      <a:r>
                        <a:rPr lang="en-IN" sz="1600" dirty="0"/>
                        <a:t>) – each with its own API, auth &amp; quota.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dirty="0"/>
                        <a:t>Need to store, embed, and search large corpora of documents (PDFs, DOCX, images) for RAG use‑cases.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dirty="0"/>
                        <a:t>Versioning &amp; rollback of uploaded files &amp; vector‑store schemas.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1024777"/>
                  </a:ext>
                </a:extLst>
              </a:tr>
              <a:tr h="409108">
                <a:tc>
                  <a:txBody>
                    <a:bodyPr/>
                    <a:lstStyle/>
                    <a:p>
                      <a:r>
                        <a:rPr lang="en-US" sz="1600" b="1" dirty="0"/>
                        <a:t>Tools &amp; Tech Stack Available</a:t>
                      </a:r>
                      <a:endParaRPr lang="en-IN" sz="1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Python, </a:t>
                      </a:r>
                      <a:r>
                        <a:rPr lang="en-US" sz="1600" dirty="0" err="1"/>
                        <a:t>FastAPI</a:t>
                      </a:r>
                      <a:r>
                        <a:rPr lang="en-US" sz="1600" dirty="0"/>
                        <a:t> Framework, </a:t>
                      </a:r>
                      <a:r>
                        <a:rPr lang="en-US" sz="1600" dirty="0" err="1"/>
                        <a:t>LiteLLM</a:t>
                      </a:r>
                      <a:r>
                        <a:rPr lang="en-US" sz="1600" dirty="0"/>
                        <a:t>, GCS, Redis, </a:t>
                      </a:r>
                      <a:r>
                        <a:rPr lang="en-US" sz="1600" dirty="0" err="1"/>
                        <a:t>PotgreSQL</a:t>
                      </a:r>
                      <a:r>
                        <a:rPr lang="en-US" sz="1600" dirty="0"/>
                        <a:t>, </a:t>
                      </a:r>
                      <a:r>
                        <a:rPr lang="en-US" sz="1600" dirty="0" err="1"/>
                        <a:t>ElasticSearch</a:t>
                      </a:r>
                      <a:r>
                        <a:rPr lang="en-US" sz="1600" dirty="0"/>
                        <a:t>, Kubernetes/GKE, Comet Opik, Celery, DevOps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2891866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82CCD263-56A5-AFD2-79C7-EEDBADC06BEA}"/>
              </a:ext>
            </a:extLst>
          </p:cNvPr>
          <p:cNvSpPr txBox="1">
            <a:spLocks/>
          </p:cNvSpPr>
          <p:nvPr/>
        </p:nvSpPr>
        <p:spPr>
          <a:xfrm>
            <a:off x="838200" y="0"/>
            <a:ext cx="10515600" cy="83121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600" dirty="0">
                <a:latin typeface="Cambria" panose="02040503050406030204" pitchFamily="18" charset="0"/>
                <a:ea typeface="Cambria" panose="02040503050406030204" pitchFamily="18" charset="0"/>
              </a:rPr>
              <a:t>Business Problem &amp; Why It Matters</a:t>
            </a:r>
            <a:endParaRPr lang="en-IN" sz="2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79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1B2D439-2BD1-B258-E9BA-F684D0EFFF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8167381"/>
              </p:ext>
            </p:extLst>
          </p:nvPr>
        </p:nvGraphicFramePr>
        <p:xfrm>
          <a:off x="838200" y="975361"/>
          <a:ext cx="6517640" cy="57607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90051">
                  <a:extLst>
                    <a:ext uri="{9D8B030D-6E8A-4147-A177-3AD203B41FA5}">
                      <a16:colId xmlns:a16="http://schemas.microsoft.com/office/drawing/2014/main" val="666649401"/>
                    </a:ext>
                  </a:extLst>
                </a:gridCol>
                <a:gridCol w="4927589">
                  <a:extLst>
                    <a:ext uri="{9D8B030D-6E8A-4147-A177-3AD203B41FA5}">
                      <a16:colId xmlns:a16="http://schemas.microsoft.com/office/drawing/2014/main" val="2018238030"/>
                    </a:ext>
                  </a:extLst>
                </a:gridCol>
              </a:tblGrid>
              <a:tr h="761999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Platform-as-a-Service (Neev)</a:t>
                      </a:r>
                      <a:endParaRPr lang="en-IN" sz="1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What It Does</a:t>
                      </a:r>
                      <a:endParaRPr lang="en-IN" sz="1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497377"/>
                  </a:ext>
                </a:extLst>
              </a:tr>
              <a:tr h="992726">
                <a:tc>
                  <a:txBody>
                    <a:bodyPr/>
                    <a:lstStyle/>
                    <a:p>
                      <a:r>
                        <a:rPr lang="en-US" sz="1500" b="1" dirty="0"/>
                        <a:t>Modular and Unified micro‑service ecosystem</a:t>
                      </a:r>
                      <a:endParaRPr lang="en-IN" sz="15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Chat‑completion, image‑generation, speech‑to‑text, text‑to‑speech, RAG, embeddings, vector‑store CRUD.</a:t>
                      </a:r>
                    </a:p>
                    <a:p>
                      <a:r>
                        <a:rPr lang="en-US" sz="1500" dirty="0"/>
                        <a:t>Guard‑rail integration (Prompt‑Hub &amp; internal policy checks).</a:t>
                      </a:r>
                      <a:endParaRPr lang="en-IN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514572"/>
                  </a:ext>
                </a:extLst>
              </a:tr>
              <a:tr h="767106">
                <a:tc>
                  <a:txBody>
                    <a:bodyPr/>
                    <a:lstStyle/>
                    <a:p>
                      <a:r>
                        <a:rPr lang="en-IN" sz="1500" b="1" dirty="0"/>
                        <a:t>Secured on-prem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All vendor code runs inside HDFC’s network, data never leaves the boundary.</a:t>
                      </a:r>
                      <a:endParaRPr lang="en-IN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5594724"/>
                  </a:ext>
                </a:extLst>
              </a:tr>
              <a:tr h="992726">
                <a:tc>
                  <a:txBody>
                    <a:bodyPr/>
                    <a:lstStyle/>
                    <a:p>
                      <a:r>
                        <a:rPr lang="en-IN" sz="1500" b="1" dirty="0"/>
                        <a:t>Vector‑store abstraction (Factory pattern)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Supports both </a:t>
                      </a:r>
                      <a:r>
                        <a:rPr lang="en-US" sz="1500" dirty="0" err="1"/>
                        <a:t>PGVector</a:t>
                      </a:r>
                      <a:r>
                        <a:rPr lang="en-US" sz="1500" dirty="0"/>
                        <a:t> (PostgreSQL) and Elasticsearch back‑ends simultaneously.</a:t>
                      </a:r>
                    </a:p>
                    <a:p>
                      <a:r>
                        <a:rPr lang="en-US" sz="1500" dirty="0"/>
                        <a:t>Seamless onboarding path – new vector </a:t>
                      </a:r>
                      <a:r>
                        <a:rPr lang="en-US" sz="1500" dirty="0" err="1"/>
                        <a:t>dbs</a:t>
                      </a:r>
                      <a:r>
                        <a:rPr lang="en-US" sz="1500" dirty="0"/>
                        <a:t> can be added with minimal efforts.</a:t>
                      </a:r>
                      <a:endParaRPr lang="en-IN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064688"/>
                  </a:ext>
                </a:extLst>
              </a:tr>
              <a:tr h="992726">
                <a:tc>
                  <a:txBody>
                    <a:bodyPr/>
                    <a:lstStyle/>
                    <a:p>
                      <a:r>
                        <a:rPr lang="en-US" sz="1500" b="1" dirty="0"/>
                        <a:t>Async batch file processing (Celery + Redis)</a:t>
                      </a:r>
                      <a:endParaRPr lang="en-IN" sz="15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500" dirty="0"/>
                        <a:t>Upload → GCS → background pipeline (extract → chunk → embed → index).</a:t>
                      </a:r>
                    </a:p>
                    <a:p>
                      <a:r>
                        <a:rPr lang="en-IN" sz="1500" dirty="0"/>
                        <a:t>Job‑level tracking, retry, and rollback (metadata &amp; chunk removal on failure).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111505"/>
                  </a:ext>
                </a:extLst>
              </a:tr>
              <a:tr h="541487">
                <a:tc>
                  <a:txBody>
                    <a:bodyPr/>
                    <a:lstStyle/>
                    <a:p>
                      <a:r>
                        <a:rPr lang="en-IN" sz="1500" b="1" dirty="0"/>
                        <a:t>Observability &amp; tracing (Opik)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End‑to‑end request tracing, usage metrics, error‑rate dashboards.</a:t>
                      </a:r>
                      <a:endParaRPr lang="en-IN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7042723"/>
                  </a:ext>
                </a:extLst>
              </a:tr>
              <a:tr h="541487">
                <a:tc>
                  <a:txBody>
                    <a:bodyPr/>
                    <a:lstStyle/>
                    <a:p>
                      <a:r>
                        <a:rPr lang="en-IN" sz="1500" b="1" dirty="0"/>
                        <a:t>Security &amp; compliance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Calls wrapped with API‑key &amp; session‑ID validation</a:t>
                      </a:r>
                    </a:p>
                    <a:p>
                      <a:r>
                        <a:rPr lang="en-US" sz="1500" dirty="0"/>
                        <a:t>Data within bank‑controlled network</a:t>
                      </a:r>
                      <a:endParaRPr lang="en-IN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815135"/>
                  </a:ext>
                </a:extLst>
              </a:tr>
            </a:tbl>
          </a:graphicData>
        </a:graphic>
      </p:graphicFrame>
      <p:sp>
        <p:nvSpPr>
          <p:cNvPr id="6" name="Title 1">
            <a:extLst>
              <a:ext uri="{FF2B5EF4-FFF2-40B4-BE49-F238E27FC236}">
                <a16:creationId xmlns:a16="http://schemas.microsoft.com/office/drawing/2014/main" id="{ED3B6CD4-98CD-EE07-4176-F5904F57191C}"/>
              </a:ext>
            </a:extLst>
          </p:cNvPr>
          <p:cNvSpPr txBox="1">
            <a:spLocks/>
          </p:cNvSpPr>
          <p:nvPr/>
        </p:nvSpPr>
        <p:spPr>
          <a:xfrm>
            <a:off x="838200" y="0"/>
            <a:ext cx="6517640" cy="83121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600" dirty="0">
                <a:latin typeface="Cambria" panose="02040503050406030204" pitchFamily="18" charset="0"/>
                <a:ea typeface="Cambria" panose="02040503050406030204" pitchFamily="18" charset="0"/>
              </a:rPr>
              <a:t>Solution - What We Delivered</a:t>
            </a:r>
            <a:endParaRPr lang="en-IN" sz="2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43B8F2C-1426-07C1-0728-588BC9059067}"/>
              </a:ext>
            </a:extLst>
          </p:cNvPr>
          <p:cNvSpPr txBox="1">
            <a:spLocks/>
          </p:cNvSpPr>
          <p:nvPr/>
        </p:nvSpPr>
        <p:spPr>
          <a:xfrm>
            <a:off x="7467600" y="0"/>
            <a:ext cx="3886200" cy="833120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2600" dirty="0">
                <a:latin typeface="Cambria" panose="02040503050406030204" pitchFamily="18" charset="0"/>
                <a:ea typeface="Cambria" panose="02040503050406030204" pitchFamily="18" charset="0"/>
              </a:rPr>
              <a:t>Tangible Business Benefits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C8A556-31FE-D1B8-BB3D-00B405E061F1}"/>
              </a:ext>
            </a:extLst>
          </p:cNvPr>
          <p:cNvSpPr txBox="1"/>
          <p:nvPr/>
        </p:nvSpPr>
        <p:spPr>
          <a:xfrm>
            <a:off x="7467600" y="1073785"/>
            <a:ext cx="3886200" cy="563231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/>
              <a:t>Speed of AI prototype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500" dirty="0"/>
              <a:t>~70 % reduction vs. ad‑hoc scripts (single API, reusable components).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/>
              <a:t>Cross‑team adoption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500" dirty="0"/>
              <a:t>5+ internal products already consuming the platform (chat assistants, compliance search, call‑center transcription	</a:t>
            </a:r>
            <a:endParaRPr lang="en-IN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Scalability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00" dirty="0"/>
              <a:t>Celery workers + Redis queue allow thousands of concurrent file‑ingestion jobs without blocking the API.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Vector DBs‑agnostic flexibility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500" dirty="0"/>
              <a:t>Parallel </a:t>
            </a:r>
            <a:r>
              <a:rPr lang="en-IN" sz="1500" dirty="0" err="1"/>
              <a:t>PGVector</a:t>
            </a:r>
            <a:r>
              <a:rPr lang="en-IN" sz="1500" dirty="0"/>
              <a:t> and Elasticsearch enable strategic migration; no code changes needed for future vector‑store upgrades.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500" b="1" dirty="0"/>
              <a:t>Compliance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500" dirty="0"/>
              <a:t>All data processing performed in‑house; Guard‑rails enforce policy before LLM output is returned;</a:t>
            </a:r>
            <a:r>
              <a:rPr lang="en-IN" sz="1500" dirty="0"/>
              <a:t> HDFC’s VPC; audit logs captured via Opik &amp; DB metadata.</a:t>
            </a:r>
          </a:p>
        </p:txBody>
      </p:sp>
    </p:spTree>
    <p:extLst>
      <p:ext uri="{BB962C8B-B14F-4D97-AF65-F5344CB8AC3E}">
        <p14:creationId xmlns:p14="http://schemas.microsoft.com/office/powerpoint/2010/main" val="2299586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503</Words>
  <Application>Microsoft Office PowerPoint</Application>
  <PresentationFormat>Widescreen</PresentationFormat>
  <Paragraphs>42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Jalota, Sachin</dc:creator>
  <cp:lastModifiedBy>Jalota, Sachin</cp:lastModifiedBy>
  <cp:revision>1</cp:revision>
  <dcterms:created xsi:type="dcterms:W3CDTF">2025-11-20T15:51:17Z</dcterms:created>
  <dcterms:modified xsi:type="dcterms:W3CDTF">2025-11-20T17:06:55Z</dcterms:modified>
</cp:coreProperties>
</file>